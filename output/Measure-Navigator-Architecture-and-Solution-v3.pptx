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c801104de364c43" /><Relationship Type="http://schemas.openxmlformats.org/officeDocument/2006/relationships/extended-properties" Target="/docProps/app.xml" Id="Rc7e668fe79974e0f" /><Relationship Type="http://schemas.openxmlformats.org/officeDocument/2006/relationships/officeDocument" Target="/ppt/presentation.xml" Id="R509fb022b1404e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57d5de302743e0"/>
  </p:sldMasterIdLst>
  <p:notesMasterIdLst>
    <p:notesMasterId xmlns:r="http://schemas.openxmlformats.org/officeDocument/2006/relationships" r:id="R4a19a90077c94a01"/>
  </p:notesMasterIdLst>
  <p:sldIdLst>
    <p:sldId xmlns:r="http://schemas.openxmlformats.org/officeDocument/2006/relationships" id="256" r:id="R21036b339e214924"/>
    <p:sldId xmlns:r="http://schemas.openxmlformats.org/officeDocument/2006/relationships" id="257" r:id="Rbc74b503e5744d3c"/>
    <p:sldId xmlns:r="http://schemas.openxmlformats.org/officeDocument/2006/relationships" id="258" r:id="R5fad527d3b504764"/>
    <p:sldId xmlns:r="http://schemas.openxmlformats.org/officeDocument/2006/relationships" id="259" r:id="R9079653898c44163"/>
    <p:sldId xmlns:r="http://schemas.openxmlformats.org/officeDocument/2006/relationships" id="260" r:id="Rc56bef27d7ea448b"/>
    <p:sldId xmlns:r="http://schemas.openxmlformats.org/officeDocument/2006/relationships" id="261" r:id="R6f12dbb3b0bd48d0"/>
    <p:sldId xmlns:r="http://schemas.openxmlformats.org/officeDocument/2006/relationships" id="262" r:id="R571ba26f8af24a27"/>
    <p:sldId xmlns:r="http://schemas.openxmlformats.org/officeDocument/2006/relationships" id="263" r:id="R550e303c356d42da"/>
    <p:sldId xmlns:r="http://schemas.openxmlformats.org/officeDocument/2006/relationships" id="264" r:id="R5f55193a9bfd4bd3"/>
    <p:sldId xmlns:r="http://schemas.openxmlformats.org/officeDocument/2006/relationships" id="265" r:id="Ra21c9a533ff2436c"/>
    <p:sldId xmlns:r="http://schemas.openxmlformats.org/officeDocument/2006/relationships" id="266" r:id="Rfac9641e9701473d"/>
    <p:sldId xmlns:r="http://schemas.openxmlformats.org/officeDocument/2006/relationships" id="267" r:id="R96f43d59da50457a"/>
    <p:sldId xmlns:r="http://schemas.openxmlformats.org/officeDocument/2006/relationships" id="268" r:id="R6ccd576e8aed43e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c59bc322a44b10" /><Relationship Type="http://schemas.openxmlformats.org/officeDocument/2006/relationships/slideMaster" Target="/ppt/slideMasters/slideMaster1.xml" Id="Ra957d5de302743e0" /><Relationship Type="http://schemas.openxmlformats.org/officeDocument/2006/relationships/notesMaster" Target="/ppt/notesMasters/notesMaster1.xml" Id="R4a19a90077c94a01" /><Relationship Type="http://schemas.openxmlformats.org/officeDocument/2006/relationships/presProps" Target="/ppt/presProps.xml" Id="R4773619868a946c0" /><Relationship Type="http://schemas.openxmlformats.org/officeDocument/2006/relationships/tableStyles" Target="/ppt/tableStyles.xml" Id="R2ca8b39bdb5b4906" /><Relationship Type="http://schemas.openxmlformats.org/officeDocument/2006/relationships/slide" Target="/ppt/slides/slide1.xml" Id="R21036b339e214924" /><Relationship Type="http://schemas.openxmlformats.org/officeDocument/2006/relationships/slide" Target="/ppt/slides/slide2.xml" Id="Rbc74b503e5744d3c" /><Relationship Type="http://schemas.openxmlformats.org/officeDocument/2006/relationships/slide" Target="/ppt/slides/slide3.xml" Id="R5fad527d3b504764" /><Relationship Type="http://schemas.openxmlformats.org/officeDocument/2006/relationships/slide" Target="/ppt/slides/slide4.xml" Id="R9079653898c44163" /><Relationship Type="http://schemas.openxmlformats.org/officeDocument/2006/relationships/slide" Target="/ppt/slides/slide5.xml" Id="Rc56bef27d7ea448b" /><Relationship Type="http://schemas.openxmlformats.org/officeDocument/2006/relationships/slide" Target="/ppt/slides/slide6.xml" Id="R6f12dbb3b0bd48d0" /><Relationship Type="http://schemas.openxmlformats.org/officeDocument/2006/relationships/slide" Target="/ppt/slides/slide7.xml" Id="R571ba26f8af24a27" /><Relationship Type="http://schemas.openxmlformats.org/officeDocument/2006/relationships/slide" Target="/ppt/slides/slide8.xml" Id="R550e303c356d42da" /><Relationship Type="http://schemas.openxmlformats.org/officeDocument/2006/relationships/slide" Target="/ppt/slides/slide9.xml" Id="R5f55193a9bfd4bd3" /><Relationship Type="http://schemas.openxmlformats.org/officeDocument/2006/relationships/slide" Target="/ppt/slides/slide10.xml" Id="Ra21c9a533ff2436c" /><Relationship Type="http://schemas.openxmlformats.org/officeDocument/2006/relationships/slide" Target="/ppt/slides/slide11.xml" Id="Rfac9641e9701473d" /><Relationship Type="http://schemas.openxmlformats.org/officeDocument/2006/relationships/slide" Target="/ppt/slides/slide12.xml" Id="R96f43d59da50457a" /><Relationship Type="http://schemas.openxmlformats.org/officeDocument/2006/relationships/slide" Target="/ppt/slides/slide13.xml" Id="R6ccd576e8aed43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2e87988969849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c33252db4f49f3" /><Relationship Type="http://schemas.openxmlformats.org/officeDocument/2006/relationships/notesMaster" Target="/ppt/notesMasters/notesMaster1.xml" Id="Rd90c0d258ee14b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6a0e639cc044bf" /><Relationship Type="http://schemas.openxmlformats.org/officeDocument/2006/relationships/notesMaster" Target="/ppt/notesMasters/notesMaster1.xml" Id="R0f23dc18d73d407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6a8bfef39f149cc" /><Relationship Type="http://schemas.openxmlformats.org/officeDocument/2006/relationships/notesMaster" Target="/ppt/notesMasters/notesMaster1.xml" Id="R1ec983be7cfb48e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16ec4f374f4366" /><Relationship Type="http://schemas.openxmlformats.org/officeDocument/2006/relationships/notesMaster" Target="/ppt/notesMasters/notesMaster1.xml" Id="R7486b54455ea426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b6e9be690d043ec" /><Relationship Type="http://schemas.openxmlformats.org/officeDocument/2006/relationships/notesMaster" Target="/ppt/notesMasters/notesMaster1.xml" Id="R64e729ae5f064ae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41cccd5e9954b04" /><Relationship Type="http://schemas.openxmlformats.org/officeDocument/2006/relationships/notesMaster" Target="/ppt/notesMasters/notesMaster1.xml" Id="R58d7f58158b7445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bd1bab7275c4688" /><Relationship Type="http://schemas.openxmlformats.org/officeDocument/2006/relationships/notesMaster" Target="/ppt/notesMasters/notesMaster1.xml" Id="Rdfe32d19839e45d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2d30574550e4cfa" /><Relationship Type="http://schemas.openxmlformats.org/officeDocument/2006/relationships/notesMaster" Target="/ppt/notesMasters/notesMaster1.xml" Id="R501af64ec366404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31e1b4a7c134304" /><Relationship Type="http://schemas.openxmlformats.org/officeDocument/2006/relationships/notesMaster" Target="/ppt/notesMasters/notesMaster1.xml" Id="R3d34335cd77a4cb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7ac35cd3a98471e" /><Relationship Type="http://schemas.openxmlformats.org/officeDocument/2006/relationships/notesMaster" Target="/ppt/notesMasters/notesMaster1.xml" Id="Rdc6b817338904b8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e65f1a261324c26" /><Relationship Type="http://schemas.openxmlformats.org/officeDocument/2006/relationships/notesMaster" Target="/ppt/notesMasters/notesMaster1.xml" Id="R51237061ed504d1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f93bc09fb114739" /><Relationship Type="http://schemas.openxmlformats.org/officeDocument/2006/relationships/notesMaster" Target="/ppt/notesMasters/notesMaster1.xml" Id="Rbc77a043e7334cc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52194754d83401e" /><Relationship Type="http://schemas.openxmlformats.org/officeDocument/2006/relationships/notesMaster" Target="/ppt/notesMasters/notesMaster1.xml" Id="Rac529f8bce6342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c2a2866639449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1e02de98db4209" /><Relationship Type="http://schemas.openxmlformats.org/officeDocument/2006/relationships/slideLayout" Target="/ppt/slideLayouts/slideLayout1.xml" Id="R1f71277056704bc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71277056704bc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c42e15bf7f4eeb" /><Relationship Type="http://schemas.openxmlformats.org/officeDocument/2006/relationships/notesSlide" Target="/ppt/notesSlides/notesSlide1.xml" Id="R7ecc8e259dc2467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728587a692439a" /><Relationship Type="http://schemas.openxmlformats.org/officeDocument/2006/relationships/notesSlide" Target="/ppt/notesSlides/notesSlide2.xml" Id="R9099f168ae0b467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399a4667f54f0b" /><Relationship Type="http://schemas.openxmlformats.org/officeDocument/2006/relationships/notesSlide" Target="/ppt/notesSlides/notesSlide3.xml" Id="Ra9f79b2419694ca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eedcaf53414eb7" /><Relationship Type="http://schemas.openxmlformats.org/officeDocument/2006/relationships/notesSlide" Target="/ppt/notesSlides/notesSlide4.xml" Id="R6ab0c86baf154e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ee47833a5a4393" /><Relationship Type="http://schemas.openxmlformats.org/officeDocument/2006/relationships/notesSlide" Target="/ppt/notesSlides/notesSlide5.xml" Id="R3d5e86220fef414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c6e07c75234156" /><Relationship Type="http://schemas.openxmlformats.org/officeDocument/2006/relationships/notesSlide" Target="/ppt/notesSlides/notesSlide6.xml" Id="Rf3e1c16727e14c0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3a6c6d7704488c" /><Relationship Type="http://schemas.openxmlformats.org/officeDocument/2006/relationships/notesSlide" Target="/ppt/notesSlides/notesSlide7.xml" Id="R70a39e1ec2c447a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64b4881aea467e" /><Relationship Type="http://schemas.openxmlformats.org/officeDocument/2006/relationships/notesSlide" Target="/ppt/notesSlides/notesSlide8.xml" Id="R43203c30fa334b5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d789e664cf4ecd" /><Relationship Type="http://schemas.openxmlformats.org/officeDocument/2006/relationships/notesSlide" Target="/ppt/notesSlides/notesSlide9.xml" Id="Rbc7809da5148461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30c43fb285465a" /><Relationship Type="http://schemas.openxmlformats.org/officeDocument/2006/relationships/notesSlide" Target="/ppt/notesSlides/notesSlide10.xml" Id="Rc533cd133079410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a509c4c18e4ee4" /><Relationship Type="http://schemas.openxmlformats.org/officeDocument/2006/relationships/notesSlide" Target="/ppt/notesSlides/notesSlide11.xml" Id="R023e8dc7fb68490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d9febcb7794b94" /><Relationship Type="http://schemas.openxmlformats.org/officeDocument/2006/relationships/notesSlide" Target="/ppt/notesSlides/notesSlide12.xml" Id="R5123ce8d76794ac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f813bbb3e0496f" /><Relationship Type="http://schemas.openxmlformats.org/officeDocument/2006/relationships/notesSlide" Target="/ppt/notesSlides/notesSlide13.xml" Id="R72f0b7c0596d491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08C345-D568-49F9-AA84-3281B4596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F3F8F8"/>
          </a:solidFill>
          <a:ln xmlns:a="http://schemas.openxmlformats.org/drawingml/2006/main" w="9525">
            <a:solidFill>
              <a:srgbClr val="F3F8F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713249-2C32-443D-AF21-CA66B672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78A8A"/>
          </a:solidFill>
          <a:ln xmlns:a="http://schemas.openxmlformats.org/drawingml/2006/main" w="9525">
            <a:solidFill>
              <a:srgbClr val="178A8A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D6E4C9-2574-4AEB-B1B4-3B5BC36C0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906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E6F8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6F8A"/>
                </a:solidFill>
                <a:latin typeface="Arial"/>
                <a:ea typeface="Arial"/>
                <a:cs typeface="Arial"/>
              </a:rPr>
              <a:t>MEASURE NAVIGATOR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3C53C4-E532-4FB7-9675-C35E65279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7810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23B5D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23B5D"/>
                </a:solidFill>
                <a:latin typeface="Arial"/>
                <a:ea typeface="Arial"/>
                <a:cs typeface="Arial"/>
              </a:rPr>
              <a:t>Measure Navigator</a:t>
            </a:r>
          </a:p>
          <a:p xmlns:a="http://schemas.openxmlformats.org/drawingml/2006/main">
            <a:pPr>
              <a:defRPr sz="4050" b="1">
                <a:solidFill>
                  <a:srgbClr val="123B5D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23B5D"/>
                </a:solidFill>
                <a:latin typeface="Arial"/>
                <a:ea typeface="Arial"/>
                <a:cs typeface="Arial"/>
              </a:rPr>
              <a:t>Hackathon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01648E-A270-4555-9D7E-180CA06C7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Reference architecture, solution flow, and portable implementation package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CB58DF-6DC2-4C29-A97B-2CEF00BB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76725"/>
            <a:ext cx="4476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3EEF3"/>
          </a:solidFill>
          <a:ln xmlns:a="http://schemas.openxmlformats.org/drawingml/2006/main" w="9525">
            <a:solidFill>
              <a:srgbClr val="2E6F8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BAD764-975B-49AC-B092-1F989523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29125"/>
            <a:ext cx="4000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23B5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23B5D"/>
                </a:solidFill>
                <a:latin typeface="Arial"/>
                <a:ea typeface="Arial"/>
                <a:cs typeface="Arial"/>
              </a:rPr>
              <a:t>Specification authority</a:t>
            </a:r>
          </a:p>
          <a:p xmlns:a="http://schemas.openxmlformats.org/drawingml/2006/main">
            <a:pPr>
              <a:defRPr sz="1275" b="1">
                <a:solidFill>
                  <a:srgbClr val="123B5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23B5D"/>
                </a:solidFill>
                <a:latin typeface="Arial"/>
                <a:ea typeface="Arial"/>
                <a:cs typeface="Arial"/>
              </a:rPr>
              <a:t>Deterministic checks</a:t>
            </a:r>
          </a:p>
          <a:p xmlns:a="http://schemas.openxmlformats.org/drawingml/2006/main">
            <a:pPr>
              <a:defRPr sz="1275" b="1">
                <a:solidFill>
                  <a:srgbClr val="123B5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23B5D"/>
                </a:solidFill>
                <a:latin typeface="Arial"/>
                <a:ea typeface="Arial"/>
                <a:cs typeface="Arial"/>
              </a:rPr>
              <a:t>Visible answer trace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6B18FF-978F-463E-86E8-A4E97D1E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8A8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8A8A"/>
                </a:solidFill>
                <a:latin typeface="Arial"/>
                <a:ea typeface="Arial"/>
                <a:cs typeface="Arial"/>
              </a:rPr>
              <a:t>Coastal Teal edition</a:t>
            </a:r>
          </a:p>
          <a:p xmlns:a="http://schemas.openxmlformats.org/drawingml/2006/main">
            <a:pPr>
              <a:defRPr sz="1125" b="1">
                <a:solidFill>
                  <a:srgbClr val="178A8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8A8A"/>
                </a:solidFill>
                <a:latin typeface="Arial"/>
                <a:ea typeface="Arial"/>
                <a:cs typeface="Arial"/>
              </a:rPr>
              <a:t>Designed for governed office-laptop integration</a:t>
            </a:r>
          </a:p>
        </p:txBody>
      </p:sp>
    </p:spTree>
    <p:extLst>
      <p:ext uri="{BB962C8B-B14F-4D97-AF65-F5344CB8AC3E}">
        <p14:creationId xmlns:p14="http://schemas.microsoft.com/office/powerpoint/2010/main" val="3989140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CD79F0-1DD2-438A-912C-B00E8DEE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E6F8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6F8A"/>
                </a:solidFill>
                <a:latin typeface="Arial"/>
                <a:ea typeface="Arial"/>
                <a:cs typeface="Arial"/>
              </a:rPr>
              <a:t>MEASURE NAVIGATOR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FF22EC-6C81-4F7F-84F5-7D6FCB574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3B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B5D"/>
                </a:solidFill>
                <a:latin typeface="Arial"/>
                <a:ea typeface="Arial"/>
                <a:cs typeface="Arial"/>
              </a:rPr>
              <a:t>Problem statement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AC2D14-799C-4B43-ABAA-E5990B560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3347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A8A"/>
          </a:solidFill>
          <a:ln xmlns:a="http://schemas.openxmlformats.org/drawingml/2006/main" w="0">
            <a:solidFill>
              <a:srgbClr val="178A8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E32978-AA2C-4C85-88A6-B967DF75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Measure Navigator | Hackathon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712838-C821-4EA9-8C05-4C6037178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4409C3-1D76-432D-AB15-1AD8E9EC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E6F8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1CC9C7-B41D-4E86-A693-68FF0E702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76200" cy="2000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6F8A"/>
          </a:solidFill>
          <a:ln xmlns:a="http://schemas.openxmlformats.org/drawingml/2006/main" w="9525">
            <a:solidFill>
              <a:srgbClr val="2E6F8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3D1BFE-8A6F-406E-A9B1-A6802A38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6F8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E6F8A"/>
                </a:solidFill>
                <a:latin typeface="Arial"/>
                <a:ea typeface="Arial"/>
                <a:cs typeface="Arial"/>
              </a:rPr>
              <a:t>Fragmented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17D847-BC38-4A7E-BEA4-D577B44A2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9718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Analysts move between specifications, value sets, measure logic documents, stored procedures, tip sheets, and prior questions.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7B9848-EA17-4C6C-9C7B-0DD2F2070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19250"/>
            <a:ext cx="3333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97D8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CBF23A-697B-47B4-8BFC-3CFC3EDE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19250"/>
            <a:ext cx="76200" cy="2000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97D8C"/>
          </a:solidFill>
          <a:ln xmlns:a="http://schemas.openxmlformats.org/drawingml/2006/main" w="9525">
            <a:solidFill>
              <a:srgbClr val="397D8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1642E0-F740-4395-8E6E-ABC9F2A59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762125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97D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D8C"/>
                </a:solidFill>
                <a:latin typeface="Arial"/>
                <a:ea typeface="Arial"/>
                <a:cs typeface="Arial"/>
              </a:rPr>
              <a:t>Slow investigation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B7AC54-23DA-4542-9856-9214F317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076450"/>
            <a:ext cx="29718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A simple clarification can become a long search because the user must determine which source applies to the selected measure year.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35EE29-6676-49E3-9EA5-447099E1A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19250"/>
            <a:ext cx="3333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8A8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3D64B0-CBF4-4E15-929D-682CA9C82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19250"/>
            <a:ext cx="76200" cy="2000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8A8A"/>
          </a:solidFill>
          <a:ln xmlns:a="http://schemas.openxmlformats.org/drawingml/2006/main" w="9525">
            <a:solidFill>
              <a:srgbClr val="178A8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7B0784-498E-4587-8C3C-40F6693C7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762125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8A8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8A8A"/>
                </a:solidFill>
                <a:latin typeface="Arial"/>
                <a:ea typeface="Arial"/>
                <a:cs typeface="Arial"/>
              </a:rPr>
              <a:t>Weak traceability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DD483F-4994-4D03-A9CF-9B26509CF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76450"/>
            <a:ext cx="29718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A conversational answer alone does not show which FAQ matched, which checks ran, or which source controlled the result.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7B68D5-9422-4BA5-9701-112278BE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719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3B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3B5D"/>
                </a:solidFill>
                <a:latin typeface="Arial"/>
                <a:ea typeface="Arial"/>
                <a:cs typeface="Arial"/>
              </a:rPr>
              <a:t>Goal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09E6BF-0F7B-42BE-97F3-DB6AFB6DC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52950"/>
            <a:ext cx="1057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64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64F"/>
                </a:solidFill>
                <a:latin typeface="Arial"/>
                <a:ea typeface="Arial"/>
                <a:cs typeface="Arial"/>
              </a:rPr>
              <a:t>Give measure teams a fast explanation while preserving the specification as the authoritative source and exposing the complete evidence path.</a:t>
            </a:r>
          </a:p>
        </p:txBody>
      </p:sp>
    </p:spTree>
    <p:extLst>
      <p:ext uri="{BB962C8B-B14F-4D97-AF65-F5344CB8AC3E}">
        <p14:creationId xmlns:p14="http://schemas.microsoft.com/office/powerpoint/2010/main" val="20640941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81D6BF-1B88-41CD-BAD6-FE4EFEF2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E6F8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6F8A"/>
                </a:solidFill>
                <a:latin typeface="Arial"/>
                <a:ea typeface="Arial"/>
                <a:cs typeface="Arial"/>
              </a:rPr>
              <a:t>MEASURE NAVIGATOR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C31448-C0AD-4C07-AC86-7FF9CCD83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3B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B5D"/>
                </a:solidFill>
                <a:latin typeface="Arial"/>
                <a:ea typeface="Arial"/>
                <a:cs typeface="Arial"/>
              </a:rPr>
              <a:t>Solution overview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7286B0-3879-4D10-B5FD-88F19BDF5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3347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A8A"/>
          </a:solidFill>
          <a:ln xmlns:a="http://schemas.openxmlformats.org/drawingml/2006/main" w="0">
            <a:solidFill>
              <a:srgbClr val="178A8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F50BD0-E58B-4174-884A-5EF225A5E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Measure Navigator | Hackathon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23D4DF-EFC9-489C-92B0-7E2E30AC9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DB8AB8-5593-490E-8603-CF9DD4AC8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24765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E6F8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956B32-FE40-42B5-A983-BD0F56C2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716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E6F8A"/>
          </a:solidFill>
          <a:ln xmlns:a="http://schemas.openxmlformats.org/drawingml/2006/main" w="9525">
            <a:solidFill>
              <a:srgbClr val="2E6F8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8A799C-BF3B-4E96-8631-FED512E84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716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5C8309-DDF1-439D-8161-88564812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5260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364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64F"/>
                </a:solidFill>
                <a:latin typeface="Arial"/>
                <a:ea typeface="Arial"/>
                <a:cs typeface="Arial"/>
              </a:rPr>
              <a:t>Select scope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9263B0-3129-4A69-AAB6-A11E40E69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52650"/>
            <a:ext cx="2133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Choose the measure and measurement year before retrieval or evaluation.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196131-BBA2-4628-851C-626906B1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19250"/>
            <a:ext cx="24765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8A8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06E8FD-DADF-4894-B941-32AA94E15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7716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78A8A"/>
          </a:solidFill>
          <a:ln xmlns:a="http://schemas.openxmlformats.org/drawingml/2006/main" w="9525">
            <a:solidFill>
              <a:srgbClr val="178A8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2AFE05-B892-4FFE-9A04-672847A59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7716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CA4860-5138-49B6-824D-61E69F04B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75260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364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64F"/>
                </a:solidFill>
                <a:latin typeface="Arial"/>
                <a:ea typeface="Arial"/>
                <a:cs typeface="Arial"/>
              </a:rPr>
              <a:t>Search approved FAQ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18E907-68C2-4153-927E-24D135279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152650"/>
            <a:ext cx="2133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Return relevant reviewed guidance and map the match into the trace.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9759C1-AB29-4933-90AA-4AC179119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24765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97D8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13042F-8D1B-489F-9A27-FB594AAA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716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397D8C"/>
          </a:solidFill>
          <a:ln xmlns:a="http://schemas.openxmlformats.org/drawingml/2006/main" w="9525">
            <a:solidFill>
              <a:srgbClr val="397D8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D3F198-6746-40AC-B480-C2F753069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716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E897D0-BC9F-447B-9977-EB293EFF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75260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364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64F"/>
                </a:solidFill>
                <a:latin typeface="Arial"/>
                <a:ea typeface="Arial"/>
                <a:cs typeface="Arial"/>
              </a:rPr>
              <a:t>Evaluate governed checks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4570FE-9067-4784-9054-9BECF465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52650"/>
            <a:ext cx="2133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Collect only required facts. Keep unknown facts as open conditions.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8B29D7-E576-4261-907D-F1FCBC6F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19250"/>
            <a:ext cx="24765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E6F8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5C16FF-876D-49DD-9F3E-B8DA92AD9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7716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E6F8A"/>
          </a:solidFill>
          <a:ln xmlns:a="http://schemas.openxmlformats.org/drawingml/2006/main" w="9525">
            <a:solidFill>
              <a:srgbClr val="2E6F8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7B2FEB-E724-4A53-BF84-E4CF6ADA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7716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F750A8-B205-4F95-BB7A-62EBA419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75260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364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64F"/>
                </a:solidFill>
                <a:latin typeface="Arial"/>
                <a:ea typeface="Arial"/>
                <a:cs typeface="Arial"/>
              </a:rPr>
              <a:t>Explain with evidence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DC84B4-AEE3-4CD2-9D1F-DEA84C57B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52650"/>
            <a:ext cx="2133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Show citations, source authority, conflicts, and the escalation status.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89866C-0004-4421-9717-0ABED0C8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19500"/>
            <a:ext cx="89535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8A8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A144F3-FFC4-4FAA-885A-F9B804F58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19500"/>
            <a:ext cx="76200" cy="1485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8A8A"/>
          </a:solidFill>
          <a:ln xmlns:a="http://schemas.openxmlformats.org/drawingml/2006/main" w="9525">
            <a:solidFill>
              <a:srgbClr val="178A8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89B702-4883-4685-9041-A0AE67927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762375"/>
            <a:ext cx="859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8A8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8A8A"/>
                </a:solidFill>
                <a:latin typeface="Arial"/>
                <a:ea typeface="Arial"/>
                <a:cs typeface="Arial"/>
              </a:rPr>
              <a:t>Extensible measure packages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516CF5-573D-4E5B-98B4-1F7ACCC7B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76700"/>
            <a:ext cx="8591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The same contract supports multiple measures. Each measure year carries its own specification, MLD, VSD, SQL, check catalog, decision tree, and FAQs.</a:t>
            </a:r>
          </a:p>
        </p:txBody>
      </p:sp>
    </p:spTree>
    <p:extLst>
      <p:ext uri="{BB962C8B-B14F-4D97-AF65-F5344CB8AC3E}">
        <p14:creationId xmlns:p14="http://schemas.microsoft.com/office/powerpoint/2010/main" val="18043461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5EB4CD-C0A2-445A-9C18-468AD1B1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E6F8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6F8A"/>
                </a:solidFill>
                <a:latin typeface="Arial"/>
                <a:ea typeface="Arial"/>
                <a:cs typeface="Arial"/>
              </a:rPr>
              <a:t>MEASURE NAVIGATOR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6125F6-17CD-410F-81D5-77A9817A9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3B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B5D"/>
                </a:solidFill>
                <a:latin typeface="Arial"/>
                <a:ea typeface="Arial"/>
                <a:cs typeface="Arial"/>
              </a:rPr>
              <a:t>Clarification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710468-349F-474A-B387-9309366C0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3347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A8A"/>
          </a:solidFill>
          <a:ln xmlns:a="http://schemas.openxmlformats.org/drawingml/2006/main" w="0">
            <a:solidFill>
              <a:srgbClr val="178A8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EE22EC-1237-4777-9C75-BBF5CDAF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Measure Navigator | Hackathon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87243A-C490-44D7-ADF4-1A28E2C0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5A8204-D4D3-4DBF-B780-C01CC3248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952625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E6F8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6999CF-E669-4C85-9E8C-1E38ECCDB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621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E6F8A"/>
          </a:solidFill>
          <a:ln xmlns:a="http://schemas.openxmlformats.org/drawingml/2006/main" w="9525">
            <a:solidFill>
              <a:srgbClr val="2E6F8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B87E8E-A3DD-4F2B-B075-980FAA38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621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96C02B-5CD6-4B61-A86A-5E0C7C17E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43100"/>
            <a:ext cx="1171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364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64F"/>
                </a:solidFill>
                <a:latin typeface="Arial"/>
                <a:ea typeface="Arial"/>
                <a:cs typeface="Arial"/>
              </a:rPr>
              <a:t>Question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888282-27A1-4615-8DC3-2FD0999D4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1609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Mask detected identifiers and retain the clarified question.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C88CEF-A436-477C-80C5-20D0F597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09750"/>
            <a:ext cx="1952625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8A8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A5B469-FAF5-47B2-AA84-F39E871FC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9621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78A8A"/>
          </a:solidFill>
          <a:ln xmlns:a="http://schemas.openxmlformats.org/drawingml/2006/main" w="9525">
            <a:solidFill>
              <a:srgbClr val="178A8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9CE62A-0777-40D7-AEE6-76383A19F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9621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347543-7E21-4367-A311-2A0E1CDAD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943100"/>
            <a:ext cx="1171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364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64F"/>
                </a:solidFill>
                <a:latin typeface="Arial"/>
                <a:ea typeface="Arial"/>
                <a:cs typeface="Arial"/>
              </a:rPr>
              <a:t>FAQ match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5AA39F-F1FC-4506-908D-99DD8787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343150"/>
            <a:ext cx="1609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Search approved, year-specific guidance before deeper evaluation.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0A2280-CC4C-40A4-838A-39BDD59E0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09750"/>
            <a:ext cx="1952625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97D8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7CEB88-689E-4C47-913B-894D6A5C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9621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397D8C"/>
          </a:solidFill>
          <a:ln xmlns:a="http://schemas.openxmlformats.org/drawingml/2006/main" w="9525">
            <a:solidFill>
              <a:srgbClr val="397D8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D3CFC2-7328-46E4-90AA-40D8942A1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9621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6A6BE2-A76A-418B-9696-215A9633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943100"/>
            <a:ext cx="1171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364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64F"/>
                </a:solidFill>
                <a:latin typeface="Arial"/>
                <a:ea typeface="Arial"/>
                <a:cs typeface="Arial"/>
              </a:rPr>
              <a:t>Intent route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5DF3EE-B46E-4C41-925B-62F272A2A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43150"/>
            <a:ext cx="1609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Apply the governed taxonomy and confidence threshold.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A27796-E5F4-408A-93EF-1E5B34CD9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952625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E6F8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B215F4-443C-46A9-B92D-ED589F457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9621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E6F8A"/>
          </a:solidFill>
          <a:ln xmlns:a="http://schemas.openxmlformats.org/drawingml/2006/main" w="9525">
            <a:solidFill>
              <a:srgbClr val="2E6F8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5DD10E-8364-446F-889A-20537B1C2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9621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B67E34-8DE5-4414-962B-DF199A07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943100"/>
            <a:ext cx="1171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364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64F"/>
                </a:solidFill>
                <a:latin typeface="Arial"/>
                <a:ea typeface="Arial"/>
                <a:cs typeface="Arial"/>
              </a:rPr>
              <a:t>Rule checks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F423D0-1F38-4FDC-843F-ECEABA84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343150"/>
            <a:ext cx="1609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Run deterministic value-set, date, setting, and threshold checks.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3C7CE6-2731-45A6-B6F2-514BE72C0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809750"/>
            <a:ext cx="1952625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8A8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0B36F9-8EE6-4E28-BFD3-A6A262BB0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9621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78A8A"/>
          </a:solidFill>
          <a:ln xmlns:a="http://schemas.openxmlformats.org/drawingml/2006/main" w="9525">
            <a:solidFill>
              <a:srgbClr val="178A8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884E22-6888-4C43-AD96-0871E154D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9621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A2A9CB-C55B-427C-BAB7-79C999C53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943100"/>
            <a:ext cx="1171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364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64F"/>
                </a:solidFill>
                <a:latin typeface="Arial"/>
                <a:ea typeface="Arial"/>
                <a:cs typeface="Arial"/>
              </a:rPr>
              <a:t>Answer trace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D28D23-80DC-4870-B22A-94C3B5FC0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343150"/>
            <a:ext cx="1609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Expose citations, open conditions, and conflicts.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52802B-002B-4CEF-8726-C27240DC6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005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23B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3B5D"/>
                </a:solidFill>
                <a:latin typeface="Arial"/>
                <a:ea typeface="Arial"/>
                <a:cs typeface="Arial"/>
              </a:rPr>
              <a:t>Low confidence, unresolved evidence, or source disagreement creates a review event instead of a guessed answer.</a:t>
            </a:r>
          </a:p>
        </p:txBody>
      </p:sp>
    </p:spTree>
    <p:extLst>
      <p:ext uri="{BB962C8B-B14F-4D97-AF65-F5344CB8AC3E}">
        <p14:creationId xmlns:p14="http://schemas.microsoft.com/office/powerpoint/2010/main" val="6725794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F5BEB9-6150-4751-AC02-BE766A9AA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E6F8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6F8A"/>
                </a:solidFill>
                <a:latin typeface="Arial"/>
                <a:ea typeface="Arial"/>
                <a:cs typeface="Arial"/>
              </a:rPr>
              <a:t>MEASURE NAVIGATOR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B7ACE6-72A7-4C6F-B20F-C494B996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3B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B5D"/>
                </a:solidFill>
                <a:latin typeface="Arial"/>
                <a:ea typeface="Arial"/>
                <a:cs typeface="Arial"/>
              </a:rPr>
              <a:t>Application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6DBFB9-5CAD-4C5F-8890-120BFF89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3347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A8A"/>
          </a:solidFill>
          <a:ln xmlns:a="http://schemas.openxmlformats.org/drawingml/2006/main" w="0">
            <a:solidFill>
              <a:srgbClr val="178A8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F614AC-5E36-46FF-B765-2D371C323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Measure Navigator | Hackathon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E1C83D-B57D-4340-B6EE-AE22000CE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F59A86-5A07-4FC4-83C8-30BE904F4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2333625" cy="4000500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E6F8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71CE01-3130-4F01-8E8D-E330BE7ED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76200" cy="400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6F8A"/>
          </a:solidFill>
          <a:ln xmlns:a="http://schemas.openxmlformats.org/drawingml/2006/main" w="9525">
            <a:solidFill>
              <a:srgbClr val="2E6F8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9C74BA-D57E-4DA9-BEA4-40B650B70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1971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6F8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E6F8A"/>
                </a:solidFill>
                <a:latin typeface="Arial"/>
                <a:ea typeface="Arial"/>
                <a:cs typeface="Arial"/>
              </a:rPr>
              <a:t>User experience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55800E-A515-49CE-9D77-2FD7462F2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28825"/>
            <a:ext cx="1971675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Python web application</a:t>
            </a:r>
          </a:p>
          <a:p xmlns:a="http://schemas.openxmlformats.org/drawingml/2006/main">
            <a:pPr>
              <a:defRPr sz="11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Measure and year selector</a:t>
            </a:r>
          </a:p>
          <a:p xmlns:a="http://schemas.openxmlformats.org/drawingml/2006/main">
            <a:pPr>
              <a:defRPr sz="11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Question workspace</a:t>
            </a:r>
          </a:p>
          <a:p xmlns:a="http://schemas.openxmlformats.org/drawingml/2006/main">
            <a:pPr>
              <a:defRPr sz="11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FAQ library and downloads</a:t>
            </a:r>
          </a:p>
          <a:p xmlns:a="http://schemas.openxmlformats.org/drawingml/2006/main">
            <a:pPr>
              <a:defRPr sz="11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Visible answer trace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B21D65-A28E-4518-B120-17ED47A0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571625"/>
            <a:ext cx="2476500" cy="4000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97D8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A80946-2E8B-4CA7-9A89-5171C2E99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571625"/>
            <a:ext cx="76200" cy="400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97D8C"/>
          </a:solidFill>
          <a:ln xmlns:a="http://schemas.openxmlformats.org/drawingml/2006/main" w="9525">
            <a:solidFill>
              <a:srgbClr val="397D8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BE2950-2759-4DFF-9F77-77FBEFF31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71450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97D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D8C"/>
                </a:solidFill>
                <a:latin typeface="Arial"/>
                <a:ea typeface="Arial"/>
                <a:cs typeface="Arial"/>
              </a:rPr>
              <a:t>MCP orchestration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134A3E-6C14-4C88-A223-4BE8B5704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028825"/>
            <a:ext cx="21145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FAQ search</a:t>
            </a:r>
          </a:p>
          <a:p xmlns:a="http://schemas.openxmlformats.org/drawingml/2006/main">
            <a:pPr>
              <a:defRPr sz="11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Intent classification</a:t>
            </a:r>
          </a:p>
          <a:p xmlns:a="http://schemas.openxmlformats.org/drawingml/2006/main">
            <a:pPr>
              <a:defRPr sz="11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Required-fact collection</a:t>
            </a:r>
          </a:p>
          <a:p xmlns:a="http://schemas.openxmlformats.org/drawingml/2006/main">
            <a:pPr>
              <a:defRPr sz="11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Decision-tree traversal</a:t>
            </a:r>
          </a:p>
          <a:p xmlns:a="http://schemas.openxmlformats.org/drawingml/2006/main">
            <a:pPr>
              <a:defRPr sz="11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Conflict and escalation tools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4E9A61-7F49-4E2B-A615-4B70230F6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571625"/>
            <a:ext cx="2476500" cy="4000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8A8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CE2970-77E2-4B83-93D5-6EFA4B395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571625"/>
            <a:ext cx="76200" cy="400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8A8A"/>
          </a:solidFill>
          <a:ln xmlns:a="http://schemas.openxmlformats.org/drawingml/2006/main" w="9525">
            <a:solidFill>
              <a:srgbClr val="178A8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9A33BE-351B-4617-BE1D-BAE21A8D0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71450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8A8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8A8A"/>
                </a:solidFill>
                <a:latin typeface="Arial"/>
                <a:ea typeface="Arial"/>
                <a:cs typeface="Arial"/>
              </a:rPr>
              <a:t>Deterministic services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E2CF25-4EBC-4B37-8E9E-EF2BEC78D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28825"/>
            <a:ext cx="21145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YAML compiler</a:t>
            </a:r>
          </a:p>
          <a:p xmlns:a="http://schemas.openxmlformats.org/drawingml/2006/main">
            <a:pPr>
              <a:defRPr sz="11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Check evaluator</a:t>
            </a:r>
          </a:p>
          <a:p xmlns:a="http://schemas.openxmlformats.org/drawingml/2006/main">
            <a:pPr>
              <a:defRPr sz="11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Value-set lookup</a:t>
            </a:r>
          </a:p>
          <a:p xmlns:a="http://schemas.openxmlformats.org/drawingml/2006/main">
            <a:pPr>
              <a:defRPr sz="11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SQL conformance runner</a:t>
            </a:r>
          </a:p>
          <a:p xmlns:a="http://schemas.openxmlformats.org/drawingml/2006/main">
            <a:pPr>
              <a:defRPr sz="11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Source comparison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11291D-9387-4D63-801D-C64A29812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571625"/>
            <a:ext cx="2857500" cy="4000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23B5D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46CF61-5C9C-4218-9187-9C65051CE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571625"/>
            <a:ext cx="76200" cy="400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B5D"/>
          </a:solidFill>
          <a:ln xmlns:a="http://schemas.openxmlformats.org/drawingml/2006/main" w="9525">
            <a:solidFill>
              <a:srgbClr val="123B5D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1B3932-8905-441B-98C7-B78DC072B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1714500"/>
            <a:ext cx="249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3B5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B5D"/>
                </a:solidFill>
                <a:latin typeface="Arial"/>
                <a:ea typeface="Arial"/>
                <a:cs typeface="Arial"/>
              </a:rPr>
              <a:t>Governed knowledge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6CE861-BBB0-461B-B4A1-B0F755BC7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028825"/>
            <a:ext cx="24955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Specification</a:t>
            </a:r>
          </a:p>
          <a:p xmlns:a="http://schemas.openxmlformats.org/drawingml/2006/main">
            <a:pPr>
              <a:defRPr sz="11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MLD and VSD</a:t>
            </a:r>
          </a:p>
          <a:p xmlns:a="http://schemas.openxmlformats.org/drawingml/2006/main">
            <a:pPr>
              <a:defRPr sz="11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Stored procedures</a:t>
            </a:r>
          </a:p>
          <a:p xmlns:a="http://schemas.openxmlformats.org/drawingml/2006/main">
            <a:pPr>
              <a:defRPr sz="11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Decision tree and catalog</a:t>
            </a:r>
          </a:p>
          <a:p xmlns:a="http://schemas.openxmlformats.org/drawingml/2006/main">
            <a:pPr>
              <a:defRPr sz="11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Reviewed FAQ database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BAA4B5-40DC-491D-920F-D7270CA2A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810250"/>
            <a:ext cx="552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84B6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84B63"/>
                </a:solidFill>
                <a:latin typeface="Arial"/>
                <a:ea typeface="Arial"/>
                <a:cs typeface="Arial"/>
              </a:rPr>
              <a:t>Specification authority applies across every layer</a:t>
            </a:r>
          </a:p>
        </p:txBody>
      </p:sp>
    </p:spTree>
    <p:extLst>
      <p:ext uri="{BB962C8B-B14F-4D97-AF65-F5344CB8AC3E}">
        <p14:creationId xmlns:p14="http://schemas.microsoft.com/office/powerpoint/2010/main" val="15443945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E97EE1-9B76-44D9-8A00-54986409C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E6F8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6F8A"/>
                </a:solidFill>
                <a:latin typeface="Arial"/>
                <a:ea typeface="Arial"/>
                <a:cs typeface="Arial"/>
              </a:rPr>
              <a:t>MEASURE NAVIGATOR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2E3B74-95F8-4F09-A40A-894D48D5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3B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B5D"/>
                </a:solidFill>
                <a:latin typeface="Arial"/>
                <a:ea typeface="Arial"/>
                <a:cs typeface="Arial"/>
              </a:rPr>
              <a:t>Source authority and conflict handling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F7E5FC-10D5-461A-A4C8-CA0544E38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3347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A8A"/>
          </a:solidFill>
          <a:ln xmlns:a="http://schemas.openxmlformats.org/drawingml/2006/main" w="0">
            <a:solidFill>
              <a:srgbClr val="178A8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D2E4CF-032A-4FEF-95B3-A73B3080E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Measure Navigator | Hackathon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45A3E3-3033-4C9A-A9CE-F2FFBA6E3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8A37B4-BE2B-45BA-B76B-5629FE89D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685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23B5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636447-630C-499E-B073-C78090156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3B5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B5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B9768B-A6FA-495A-B694-297A8DB8E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6210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6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64F"/>
                </a:solidFill>
                <a:latin typeface="Arial"/>
                <a:ea typeface="Arial"/>
                <a:cs typeface="Arial"/>
              </a:rPr>
              <a:t>Specification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BAA238-B9F3-4435-8B69-686F9C15C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562100"/>
            <a:ext cx="3667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Authoritative measure requirement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F80049-AAD3-40C3-B0A2-CF137A9A5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685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E6F8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399E5E-6976-427B-A2DD-E91E366FA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622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6F8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E6F8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9F72B6-3DE0-4C44-A854-83BDB4C7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0505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6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64F"/>
                </a:solidFill>
                <a:latin typeface="Arial"/>
                <a:ea typeface="Arial"/>
                <a:cs typeface="Arial"/>
              </a:rPr>
              <a:t>MLD and VSD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AB70D7-2CE0-4965-A56B-5F8A8E04D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305050"/>
            <a:ext cx="3667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Governed structured 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988B38-E479-4D3E-9511-8473CF539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685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8A8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699E7B-0D85-42C4-B375-690A5C69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051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8A8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8A8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923735-6F2E-4F8E-B62E-1FBBBD85D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4800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6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64F"/>
                </a:solidFill>
                <a:latin typeface="Arial"/>
                <a:ea typeface="Arial"/>
                <a:cs typeface="Arial"/>
              </a:rPr>
              <a:t>SQL and stored procedures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DD34F8-BEA5-4A65-A943-1B9EBC31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48000"/>
            <a:ext cx="3667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Executable implementation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33EB1E-3CDC-458B-832A-A978CEBD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52850"/>
            <a:ext cx="685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97D8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867AF6-62C6-4C08-B040-E7EB9145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481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97D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D8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A6C130-2561-479E-A88E-36848DFBC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9095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6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64F"/>
                </a:solidFill>
                <a:latin typeface="Arial"/>
                <a:ea typeface="Arial"/>
                <a:cs typeface="Arial"/>
              </a:rPr>
              <a:t>Decision tree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552CAA-E565-4A40-843F-F32F21BA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790950"/>
            <a:ext cx="3667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Guided evaluation flow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40C968-B630-4E66-9A68-FD1BFFA72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685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7424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F026F1-8BBC-4138-B480-B07BB95A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910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74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742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A61979-96B4-443A-9876-D515A7D25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3390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6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64F"/>
                </a:solidFill>
                <a:latin typeface="Arial"/>
                <a:ea typeface="Arial"/>
                <a:cs typeface="Arial"/>
              </a:rPr>
              <a:t>FAQ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D7AA36-EE8C-4E17-85BD-59EB9530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533900"/>
            <a:ext cx="3667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Reviewed explanatory guidance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E2C3BF-2F8D-4915-B71A-F1DCE938C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857375"/>
            <a:ext cx="32385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4B63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4C882D-4F73-4A8B-8C13-8EE7C995E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857375"/>
            <a:ext cx="76200" cy="2667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4B63"/>
          </a:solidFill>
          <a:ln xmlns:a="http://schemas.openxmlformats.org/drawingml/2006/main" w="9525">
            <a:solidFill>
              <a:srgbClr val="A84B63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768716-9633-49E9-B85F-50F1808D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00025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84B6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84B63"/>
                </a:solidFill>
                <a:latin typeface="Arial"/>
                <a:ea typeface="Arial"/>
                <a:cs typeface="Arial"/>
              </a:rPr>
              <a:t>Conflict 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88FF54-C154-476E-87F3-C660667C9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314575"/>
            <a:ext cx="28765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Return the specification-based answer. Flag the derived source that disagrees. Create a high-severity review event. Require correction and conformance testing before closure.</a:t>
            </a:r>
          </a:p>
        </p:txBody>
      </p:sp>
    </p:spTree>
    <p:extLst>
      <p:ext uri="{BB962C8B-B14F-4D97-AF65-F5344CB8AC3E}">
        <p14:creationId xmlns:p14="http://schemas.microsoft.com/office/powerpoint/2010/main" val="3960731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A5D36B-DE4D-499C-9426-F716FA0B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E6F8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6F8A"/>
                </a:solidFill>
                <a:latin typeface="Arial"/>
                <a:ea typeface="Arial"/>
                <a:cs typeface="Arial"/>
              </a:rPr>
              <a:t>MEASURE NAVIGATOR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8C023C-2385-426B-8E37-11A21199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3B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B5D"/>
                </a:solidFill>
                <a:latin typeface="Arial"/>
                <a:ea typeface="Arial"/>
                <a:cs typeface="Arial"/>
              </a:rPr>
              <a:t>Visible answer trace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09A4E6-BCD6-492C-98F8-37C1359B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3347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A8A"/>
          </a:solidFill>
          <a:ln xmlns:a="http://schemas.openxmlformats.org/drawingml/2006/main" w="0">
            <a:solidFill>
              <a:srgbClr val="178A8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8D7B74-54FA-4438-86D5-56960DD1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Measure Navigator | Hackathon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CFC4FE-7C77-452C-9BE5-18C44530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ECDB2B-BD8C-49FC-9CE6-1276BC2F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2952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E6F8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C9A642-F59B-4551-8C80-42C976345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76200" cy="1219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6F8A"/>
          </a:solidFill>
          <a:ln xmlns:a="http://schemas.openxmlformats.org/drawingml/2006/main" w="9525">
            <a:solidFill>
              <a:srgbClr val="2E6F8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2554CF-DBBD-4896-A695-FE1E7A8CE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6F8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E6F8A"/>
                </a:solidFill>
                <a:latin typeface="Arial"/>
                <a:ea typeface="Arial"/>
                <a:cs typeface="Arial"/>
              </a:rPr>
              <a:t>Scope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4E24CA-C27F-49D7-A8B7-A614C70AB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28825"/>
            <a:ext cx="2590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Measure: SYN-CBP</a:t>
            </a:r>
          </a:p>
          <a:p xmlns:a="http://schemas.openxmlformats.org/drawingml/2006/main">
            <a:pPr>
              <a:defRPr sz="11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Measurement year: 2026</a:t>
            </a:r>
          </a:p>
          <a:p xmlns:a="http://schemas.openxmlformats.org/drawingml/2006/main">
            <a:pPr>
              <a:defRPr sz="11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Package status: ready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196B4E-42E2-4691-9D0B-271CA9608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0375"/>
            <a:ext cx="2952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8A8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C54EB1-B1B8-4195-88DC-1591530ED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0375"/>
            <a:ext cx="76200" cy="1219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8A8A"/>
          </a:solidFill>
          <a:ln xmlns:a="http://schemas.openxmlformats.org/drawingml/2006/main" w="9525">
            <a:solidFill>
              <a:srgbClr val="178A8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E485DC-D79D-4F6C-B168-3B2B6660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8A8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8A8A"/>
                </a:solidFill>
                <a:latin typeface="Arial"/>
                <a:ea typeface="Arial"/>
                <a:cs typeface="Arial"/>
              </a:rPr>
              <a:t>FAQ map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D92464-8569-4532-98FF-499EBBF39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57575"/>
            <a:ext cx="2590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Matched FAQ IDs</a:t>
            </a:r>
          </a:p>
          <a:p xmlns:a="http://schemas.openxmlformats.org/drawingml/2006/main">
            <a:pPr>
              <a:defRPr sz="11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Relevance order</a:t>
            </a:r>
          </a:p>
          <a:p xmlns:a="http://schemas.openxmlformats.org/drawingml/2006/main">
            <a:pPr>
              <a:defRPr sz="11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Approval status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4AEA7E-3DD8-4ED1-903E-ABEB00E07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29125"/>
            <a:ext cx="2952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97D8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7E5963-5F5E-4FCA-8DF1-3CA25DC67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29125"/>
            <a:ext cx="76200" cy="1219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97D8C"/>
          </a:solidFill>
          <a:ln xmlns:a="http://schemas.openxmlformats.org/drawingml/2006/main" w="9525">
            <a:solidFill>
              <a:srgbClr val="397D8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44C9F3-420E-432A-99FA-948C2FB8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97D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D8C"/>
                </a:solidFill>
                <a:latin typeface="Arial"/>
                <a:ea typeface="Arial"/>
                <a:cs typeface="Arial"/>
              </a:rPr>
              <a:t>Governed intent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96A1ED-64C9-4528-9C44-AF954DAFF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86325"/>
            <a:ext cx="2590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NUMERATOR_READING</a:t>
            </a:r>
          </a:p>
          <a:p xmlns:a="http://schemas.openxmlformats.org/drawingml/2006/main">
            <a:pPr>
              <a:defRPr sz="11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Confidence: 80%</a:t>
            </a:r>
          </a:p>
          <a:p xmlns:a="http://schemas.openxmlformats.org/drawingml/2006/main">
            <a:pPr>
              <a:defRPr sz="11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Threshold: 62%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9CFCD0-550A-4005-BD85-CE2FD595D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571625"/>
            <a:ext cx="3810000" cy="26479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E6F8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E58711-C626-49AA-82DB-8FB6FF3E7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571625"/>
            <a:ext cx="76200" cy="2647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6F8A"/>
          </a:solidFill>
          <a:ln xmlns:a="http://schemas.openxmlformats.org/drawingml/2006/main" w="9525">
            <a:solidFill>
              <a:srgbClr val="2E6F8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3F2F93-81C8-44B2-9863-EB744E54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714500"/>
            <a:ext cx="3448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6F8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E6F8A"/>
                </a:solidFill>
                <a:latin typeface="Arial"/>
                <a:ea typeface="Arial"/>
                <a:cs typeface="Arial"/>
              </a:rPr>
              <a:t>Checks and open conditions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949371-AA0B-4AA8-B5DF-364893C8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028825"/>
            <a:ext cx="344805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CHK-READING-DATE-VALID: MET</a:t>
            </a:r>
          </a:p>
          <a:p xmlns:a="http://schemas.openxmlformats.org/drawingml/2006/main">
            <a:pPr>
              <a:defRPr sz="11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CHK-READING-SETTING: OPEN_CONDITION</a:t>
            </a:r>
          </a:p>
          <a:p xmlns:a="http://schemas.openxmlformats.org/drawingml/2006/main">
            <a:pPr>
              <a:defRPr sz="11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CHK-READING-MODIFIER: MET</a:t>
            </a:r>
          </a:p>
          <a:p xmlns:a="http://schemas.openxmlformats.org/drawingml/2006/main">
            <a:pPr>
              <a:defRPr sz="11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CHK-BP-CONTROLLED: MET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40E3CA-411C-46C1-B4A9-766BFF2C5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71625"/>
            <a:ext cx="3333750" cy="26479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8A8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C24647-9369-4DE6-AC85-BF9E82C76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71625"/>
            <a:ext cx="76200" cy="2647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8A8A"/>
          </a:solidFill>
          <a:ln xmlns:a="http://schemas.openxmlformats.org/drawingml/2006/main" w="9525">
            <a:solidFill>
              <a:srgbClr val="178A8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257581-E722-4C33-BDAC-401828E4A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71450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8A8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8A8A"/>
                </a:solidFill>
                <a:latin typeface="Arial"/>
                <a:ea typeface="Arial"/>
                <a:cs typeface="Arial"/>
              </a:rPr>
              <a:t>Citations and authority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9ABD1E-55BA-4E28-BC47-AA1638A0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28825"/>
            <a:ext cx="29718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Cited specification section</a:t>
            </a:r>
          </a:p>
          <a:p xmlns:a="http://schemas.openxmlformats.org/drawingml/2006/main">
            <a:pPr>
              <a:defRPr sz="11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Value-set OID and version</a:t>
            </a:r>
          </a:p>
          <a:p xmlns:a="http://schemas.openxmlformats.org/drawingml/2006/main">
            <a:pPr>
              <a:defRPr sz="11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Derived artifact versions</a:t>
            </a:r>
          </a:p>
          <a:p xmlns:a="http://schemas.openxmlformats.org/drawingml/2006/main">
            <a:pPr>
              <a:defRPr sz="11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Specification wins on conflict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B9BFD7-4FC0-4C55-BB76-88AE3C00B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24375"/>
            <a:ext cx="7429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9F4F4"/>
          </a:solidFill>
          <a:ln xmlns:a="http://schemas.openxmlformats.org/drawingml/2006/main" w="9525">
            <a:solidFill>
              <a:srgbClr val="397D8C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1DA9EE-E018-44BE-A74A-FA4D77D3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577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97D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D8C"/>
                </a:solidFill>
                <a:latin typeface="Arial"/>
                <a:ea typeface="Arial"/>
                <a:cs typeface="Arial"/>
              </a:rPr>
              <a:t>User-visible result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5AD17A-F1F7-4C35-8067-E4FE67E6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962525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364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364F"/>
                </a:solidFill>
                <a:latin typeface="Arial"/>
                <a:ea typeface="Arial"/>
                <a:cs typeface="Arial"/>
              </a:rPr>
              <a:t>The result remains conditional because the reading setting is unknown. The trace shows the unresolved fact and both possible outcomes.</a:t>
            </a:r>
          </a:p>
        </p:txBody>
      </p:sp>
    </p:spTree>
    <p:extLst>
      <p:ext uri="{BB962C8B-B14F-4D97-AF65-F5344CB8AC3E}">
        <p14:creationId xmlns:p14="http://schemas.microsoft.com/office/powerpoint/2010/main" val="2219511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1408CF-C38D-4AA7-BDA4-54E9357DB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E6F8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6F8A"/>
                </a:solidFill>
                <a:latin typeface="Arial"/>
                <a:ea typeface="Arial"/>
                <a:cs typeface="Arial"/>
              </a:rPr>
              <a:t>MEASURE NAVIGATOR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086391-1828-4111-8152-6E946375E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3B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B5D"/>
                </a:solidFill>
                <a:latin typeface="Arial"/>
                <a:ea typeface="Arial"/>
                <a:cs typeface="Arial"/>
              </a:rPr>
              <a:t>Measurement-year package contract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331E6D-CB97-42DA-A159-4EF4EAB9E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3347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A8A"/>
          </a:solidFill>
          <a:ln xmlns:a="http://schemas.openxmlformats.org/drawingml/2006/main" w="0">
            <a:solidFill>
              <a:srgbClr val="178A8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17FAD5-4A59-43D7-9517-7BEA8340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Measure Navigator | Hackathon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39FAFC-2DC4-4EBF-8286-0A5C222B8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1F175E-1516-4B3E-AA5C-2449CF2C7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2400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3B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3B5D"/>
                </a:solidFill>
                <a:latin typeface="Arial"/>
                <a:ea typeface="Arial"/>
                <a:cs typeface="Arial"/>
              </a:rPr>
              <a:t>knowledge_packages/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7974E3-E9DB-4B26-9E5F-7A6D94D54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00250"/>
            <a:ext cx="4762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8A8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A00AD3-BFD1-455E-8149-1DE0EE96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57400"/>
            <a:ext cx="223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364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364F"/>
                </a:solidFill>
                <a:latin typeface="Arial"/>
                <a:ea typeface="Arial"/>
                <a:cs typeface="Arial"/>
              </a:rPr>
              <a:t>SYN-CBP/MY2026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6B17BF-4E12-4219-BF8E-2F4156B10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57400"/>
            <a:ext cx="2143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8A8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8A8A"/>
                </a:solidFill>
                <a:latin typeface="Arial"/>
                <a:ea typeface="Arial"/>
                <a:cs typeface="Arial"/>
              </a:rPr>
              <a:t>Ready demo package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7EF236-8E5A-44ED-BB48-ECC88162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28900"/>
            <a:ext cx="4762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742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7E056A-1A94-4D1F-AA43-A3677BA07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86050"/>
            <a:ext cx="223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364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364F"/>
                </a:solidFill>
                <a:latin typeface="Arial"/>
                <a:ea typeface="Arial"/>
                <a:cs typeface="Arial"/>
              </a:rPr>
              <a:t>SYN-CBP/MY2027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71C2DA-9A4A-447D-86B6-94FAAAC4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86050"/>
            <a:ext cx="2143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742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87424"/>
                </a:solidFill>
                <a:latin typeface="Arial"/>
                <a:ea typeface="Arial"/>
                <a:cs typeface="Arial"/>
              </a:rPr>
              <a:t>Awaiting governed artifacts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F8A1FD-9064-4EAE-9A20-A1803AC7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57550"/>
            <a:ext cx="4762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742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4FEF5F-1E42-4113-990C-47887396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14700"/>
            <a:ext cx="223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364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364F"/>
                </a:solidFill>
                <a:latin typeface="Arial"/>
                <a:ea typeface="Arial"/>
                <a:cs typeface="Arial"/>
              </a:rPr>
              <a:t>SYN-CDC/MY2026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EB5105-BFB8-4A07-BDA0-64B53EF0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14700"/>
            <a:ext cx="2143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742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87424"/>
                </a:solidFill>
                <a:latin typeface="Arial"/>
                <a:ea typeface="Arial"/>
                <a:cs typeface="Arial"/>
              </a:rPr>
              <a:t>Awaiting governed artifacts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7DF52F-B1D2-46B7-B64F-5C811F5D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86200"/>
            <a:ext cx="4762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742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95600D-ED12-42D4-90D7-D98DAC9A9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43350"/>
            <a:ext cx="223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364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364F"/>
                </a:solidFill>
                <a:latin typeface="Arial"/>
                <a:ea typeface="Arial"/>
                <a:cs typeface="Arial"/>
              </a:rPr>
              <a:t>SYN-COL/MY2026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A7AE6B-3134-4FC1-AEB3-2F8942399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43350"/>
            <a:ext cx="2143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742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87424"/>
                </a:solidFill>
                <a:latin typeface="Arial"/>
                <a:ea typeface="Arial"/>
                <a:cs typeface="Arial"/>
              </a:rPr>
              <a:t>Awaiting governed artifacts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B57351-0195-4229-8376-49097703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14850"/>
            <a:ext cx="4762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E6F8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A0E111-9DA9-4957-80F5-73EE3A3C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72000"/>
            <a:ext cx="223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364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364F"/>
                </a:solidFill>
                <a:latin typeface="Arial"/>
                <a:ea typeface="Arial"/>
                <a:cs typeface="Arial"/>
              </a:rPr>
              <a:t>Additional measures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67C558-B54A-4E62-AD0B-8D59C7468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72000"/>
            <a:ext cx="2143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6F8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E6F8A"/>
                </a:solidFill>
                <a:latin typeface="Arial"/>
                <a:ea typeface="Arial"/>
                <a:cs typeface="Arial"/>
              </a:rPr>
              <a:t>Same required contract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7F20E7-52C0-4350-BA7D-B95CAC512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4857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4B6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64512D-6E4F-4525-BA2B-4D25DC5A8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76200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4B63"/>
          </a:solidFill>
          <a:ln xmlns:a="http://schemas.openxmlformats.org/drawingml/2006/main" w="9525">
            <a:solidFill>
              <a:srgbClr val="A84B6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CCEC65-0629-4FD5-BCAE-7F76DFD9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52625"/>
            <a:ext cx="449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84B6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84B63"/>
                </a:solidFill>
                <a:latin typeface="Arial"/>
                <a:ea typeface="Arial"/>
                <a:cs typeface="Arial"/>
              </a:rPr>
              <a:t>Mandatory validation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EBD46C-C258-4A46-A261-B6B2BC945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66950"/>
            <a:ext cx="4495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Folder year, registry year, manifest year, and source metadata must agree. The application rejects incomplete packages and quarantines artifacts with an ambiguous year.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427815-F147-4B4B-857D-74DE597A1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14750"/>
            <a:ext cx="4857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E6F8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BC13BD-23ED-42F5-8557-960E09C6F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14750"/>
            <a:ext cx="76200" cy="2000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6F8A"/>
          </a:solidFill>
          <a:ln xmlns:a="http://schemas.openxmlformats.org/drawingml/2006/main" w="9525">
            <a:solidFill>
              <a:srgbClr val="2E6F8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8F1D2F-5B2A-4B20-979D-08942028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57625"/>
            <a:ext cx="449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6F8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E6F8A"/>
                </a:solidFill>
                <a:latin typeface="Arial"/>
                <a:ea typeface="Arial"/>
                <a:cs typeface="Arial"/>
              </a:rPr>
              <a:t>Required production contents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B4DA75-4D1B-46D6-AA74-D0FFEA1B7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71950"/>
            <a:ext cx="44958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Specification</a:t>
            </a:r>
          </a:p>
          <a:p xmlns:a="http://schemas.openxmlformats.org/drawingml/2006/main">
            <a:pPr>
              <a:defRPr sz="11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MLD and VSD</a:t>
            </a:r>
          </a:p>
          <a:p xmlns:a="http://schemas.openxmlformats.org/drawingml/2006/main">
            <a:pPr>
              <a:defRPr sz="11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Decision-tree YAML and compiled JSON</a:t>
            </a:r>
          </a:p>
          <a:p xmlns:a="http://schemas.openxmlformats.org/drawingml/2006/main">
            <a:pPr>
              <a:defRPr sz="11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Check catalog</a:t>
            </a:r>
          </a:p>
          <a:p xmlns:a="http://schemas.openxmlformats.org/drawingml/2006/main">
            <a:pPr>
              <a:defRPr sz="11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Stored procedures</a:t>
            </a:r>
          </a:p>
          <a:p xmlns:a="http://schemas.openxmlformats.org/drawingml/2006/main">
            <a:pPr>
              <a:defRPr sz="11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Manifest with hashes and approval</a:t>
            </a:r>
          </a:p>
        </p:txBody>
      </p:sp>
    </p:spTree>
    <p:extLst>
      <p:ext uri="{BB962C8B-B14F-4D97-AF65-F5344CB8AC3E}">
        <p14:creationId xmlns:p14="http://schemas.microsoft.com/office/powerpoint/2010/main" val="20549319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997BAB-5F06-4D8B-BDB9-5457B3415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E6F8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6F8A"/>
                </a:solidFill>
                <a:latin typeface="Arial"/>
                <a:ea typeface="Arial"/>
                <a:cs typeface="Arial"/>
              </a:rPr>
              <a:t>MEASURE NAVIGATOR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485504-9DB9-45BA-8234-09E8B0C67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3B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B5D"/>
                </a:solidFill>
                <a:latin typeface="Arial"/>
                <a:ea typeface="Arial"/>
                <a:cs typeface="Arial"/>
              </a:rPr>
              <a:t>Governed intent routing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347928-DD78-4904-88E2-BC38A4B5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3347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A8A"/>
          </a:solidFill>
          <a:ln xmlns:a="http://schemas.openxmlformats.org/drawingml/2006/main" w="0">
            <a:solidFill>
              <a:srgbClr val="178A8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3EFA84-D1FD-4FED-AC96-2FDAF307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Measure Navigator | Hackathon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9A8AF9-0AE8-4571-813B-91257CE98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F08C89-4052-4325-9CB6-39356AFED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29527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97D8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D2FA1F-B407-4813-B78D-783069331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76200" cy="2952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97D8C"/>
          </a:solidFill>
          <a:ln xmlns:a="http://schemas.openxmlformats.org/drawingml/2006/main" w="9525">
            <a:solidFill>
              <a:srgbClr val="397D8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6D0348-73C5-477C-9A9C-93E09765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09750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97D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D8C"/>
                </a:solidFill>
                <a:latin typeface="Arial"/>
                <a:ea typeface="Arial"/>
                <a:cs typeface="Arial"/>
              </a:rPr>
              <a:t>Intent taxonomy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137899-0D92-44F0-97C1-37E07A6A4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24075"/>
            <a:ext cx="2590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Denominator entry</a:t>
            </a:r>
          </a:p>
          <a:p xmlns:a="http://schemas.openxmlformats.org/drawingml/2006/main">
            <a:pPr>
              <a:defRPr sz="11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Exclusion</a:t>
            </a:r>
          </a:p>
          <a:p xmlns:a="http://schemas.openxmlformats.org/drawingml/2006/main">
            <a:pPr>
              <a:defRPr sz="11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Numerator reading</a:t>
            </a:r>
          </a:p>
          <a:p xmlns:a="http://schemas.openxmlformats.org/drawingml/2006/main">
            <a:pPr>
              <a:defRPr sz="11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Implementation conflict</a:t>
            </a:r>
          </a:p>
          <a:p xmlns:a="http://schemas.openxmlformats.org/drawingml/2006/main">
            <a:pPr>
              <a:defRPr sz="11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General FAQ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BB3985-F7AF-45BF-A48D-34ACABDA5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666875"/>
            <a:ext cx="2952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E6F8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E2AD2D-8DE7-40AC-A588-7AE6C9E07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666875"/>
            <a:ext cx="76200" cy="171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6F8A"/>
          </a:solidFill>
          <a:ln xmlns:a="http://schemas.openxmlformats.org/drawingml/2006/main" w="9525">
            <a:solidFill>
              <a:srgbClr val="2E6F8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D4D9CF-F6DF-4E82-A54A-6A9DAD414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809750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6F8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E6F8A"/>
                </a:solidFill>
                <a:latin typeface="Arial"/>
                <a:ea typeface="Arial"/>
                <a:cs typeface="Arial"/>
              </a:rPr>
              <a:t>Confidence control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5FA16F-D10B-47F5-BBEC-80D86AD0C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124075"/>
            <a:ext cx="2590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The classifier returns an intent, route, score, taxonomy version, and threshold. Scores below the threshold present reviewed route choices.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630B4A-3B61-43BA-B28E-4201D5E88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667125"/>
            <a:ext cx="2952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8A8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21790A-F4F8-4474-A25B-AAF9D56A6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667125"/>
            <a:ext cx="76200" cy="171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8A8A"/>
          </a:solidFill>
          <a:ln xmlns:a="http://schemas.openxmlformats.org/drawingml/2006/main" w="9525">
            <a:solidFill>
              <a:srgbClr val="178A8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179411-B590-4698-A005-7DD3D2D7F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810000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8A8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8A8A"/>
                </a:solidFill>
                <a:latin typeface="Arial"/>
                <a:ea typeface="Arial"/>
                <a:cs typeface="Arial"/>
              </a:rPr>
              <a:t>Routing audit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4A8FDF-FEB9-4BFE-BA9A-37F545E7D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4124325"/>
            <a:ext cx="2590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The trace stores the selected intent and confidence. Taxonomy updates follow the same version and approval process as measure packages.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B4CDBD-CB3A-41B4-AB3B-56688E5F9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38375"/>
            <a:ext cx="2952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4B6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13D837-B15E-4BB3-9B48-06808C23E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38375"/>
            <a:ext cx="76200" cy="2476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4B63"/>
          </a:solidFill>
          <a:ln xmlns:a="http://schemas.openxmlformats.org/drawingml/2006/main" w="9525">
            <a:solidFill>
              <a:srgbClr val="A84B6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0F6FB7-A246-492E-84DD-2FC7F8C58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81250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84B6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84B63"/>
                </a:solidFill>
                <a:latin typeface="Arial"/>
                <a:ea typeface="Arial"/>
                <a:cs typeface="Arial"/>
              </a:rPr>
              <a:t>No silent guesses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251613-0690-4FA4-8579-8DB8C0ACD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95575"/>
            <a:ext cx="25908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Low confidence pauses rule evaluation. A reviewer or user-selected route prevents the wrong decision tree from controlling the answer.</a:t>
            </a:r>
          </a:p>
        </p:txBody>
      </p:sp>
    </p:spTree>
    <p:extLst>
      <p:ext uri="{BB962C8B-B14F-4D97-AF65-F5344CB8AC3E}">
        <p14:creationId xmlns:p14="http://schemas.microsoft.com/office/powerpoint/2010/main" val="9566342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07D732-FCF1-454F-95D8-2DF49A7A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E6F8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6F8A"/>
                </a:solidFill>
                <a:latin typeface="Arial"/>
                <a:ea typeface="Arial"/>
                <a:cs typeface="Arial"/>
              </a:rPr>
              <a:t>MEASURE NAVIGATOR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F953B5-1A62-4CE6-B0C1-50616A7C0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3B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B5D"/>
                </a:solidFill>
                <a:latin typeface="Arial"/>
                <a:ea typeface="Arial"/>
                <a:cs typeface="Arial"/>
              </a:rPr>
              <a:t>FAQ learning and download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5ABFAE-9190-4CF4-9A9D-06A9387D8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3347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A8A"/>
          </a:solidFill>
          <a:ln xmlns:a="http://schemas.openxmlformats.org/drawingml/2006/main" w="0">
            <a:solidFill>
              <a:srgbClr val="178A8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90F112-1CE1-4CD7-B58F-4F5FEC848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Measure Navigator | Hackathon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A87808-7657-4E2D-B17D-7AD975864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21AFD9-B96C-4391-802B-EB84F21C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66875"/>
            <a:ext cx="23812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E6F8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1E03E4-3158-4B92-99AA-E6716CCDB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81927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E6F8A"/>
          </a:solidFill>
          <a:ln xmlns:a="http://schemas.openxmlformats.org/drawingml/2006/main" w="9525">
            <a:solidFill>
              <a:srgbClr val="2E6F8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ECBE65-2825-4B5B-84A2-E1E1EE8A5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8192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B8D7A3-AC27-4FD8-AB60-EEEB768F5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1800225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364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64F"/>
                </a:solidFill>
                <a:latin typeface="Arial"/>
                <a:ea typeface="Arial"/>
                <a:cs typeface="Arial"/>
              </a:rPr>
              <a:t>Approved search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C6244A-E640-4AD8-8F35-678C63FA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200275"/>
            <a:ext cx="2038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Return only reviewed FAQs for the selected measure year.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E292D9-4F27-4C8A-A974-658FCBB7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66875"/>
            <a:ext cx="23812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8A8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43E552-939A-4C7B-9F9A-5B273D3F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81927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78A8A"/>
          </a:solidFill>
          <a:ln xmlns:a="http://schemas.openxmlformats.org/drawingml/2006/main" w="9525">
            <a:solidFill>
              <a:srgbClr val="178A8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6356A8-1178-428A-A96F-0713DCD45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8192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C05D65-0044-4911-876F-400D445A5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800225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364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64F"/>
                </a:solidFill>
                <a:latin typeface="Arial"/>
                <a:ea typeface="Arial"/>
                <a:cs typeface="Arial"/>
              </a:rPr>
              <a:t>Explicit feedback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9BB334-AEF8-475D-AAD9-4F3F2A1C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00275"/>
            <a:ext cx="2038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Record worked, unresolved, or no confirmation. Silence stays neutral.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DBC2E1-8A63-47E9-BE57-9B5173CB7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666875"/>
            <a:ext cx="23812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97D8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A929A0-51D9-4EBA-BA9A-CE8F1D39F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81927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397D8C"/>
          </a:solidFill>
          <a:ln xmlns:a="http://schemas.openxmlformats.org/drawingml/2006/main" w="9525">
            <a:solidFill>
              <a:srgbClr val="397D8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C5B9F1-F01C-4B0F-BC1B-85BAD81D2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8192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E46608-C311-405F-89F2-1F21B1AF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1800225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364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64F"/>
                </a:solidFill>
                <a:latin typeface="Arial"/>
                <a:ea typeface="Arial"/>
                <a:cs typeface="Arial"/>
              </a:rPr>
              <a:t>Review candidate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F7D4B6-B708-4729-829E-5D070AA31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200275"/>
            <a:ext cx="2038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Redact, deduplicate, attach sources, and queue confirmed scenarios.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9B92DE-0C8C-45FF-95E9-D5CDEA66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66875"/>
            <a:ext cx="23812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E6F8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94581E-256D-489B-BDDF-24061FDDE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81927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E6F8A"/>
          </a:solidFill>
          <a:ln xmlns:a="http://schemas.openxmlformats.org/drawingml/2006/main" w="9525">
            <a:solidFill>
              <a:srgbClr val="2E6F8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15FA4A-4C2F-41AE-814B-9611AD7BC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8192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7F3455-D6FE-48A7-8A35-C02AE5F2E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800225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364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64F"/>
                </a:solidFill>
                <a:latin typeface="Arial"/>
                <a:ea typeface="Arial"/>
                <a:cs typeface="Arial"/>
              </a:rPr>
              <a:t>Reviewer promotion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695E86-E55A-42B7-9F31-E8753F8FC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00275"/>
            <a:ext cx="2038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A measure reviewer approves content before it enters search results.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CE0E8B-18A5-41E7-BC18-B6E237816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714750"/>
            <a:ext cx="8096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8A8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35CEBF-38F0-40A2-926D-421E85B3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714750"/>
            <a:ext cx="76200" cy="1381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8A8A"/>
          </a:solidFill>
          <a:ln xmlns:a="http://schemas.openxmlformats.org/drawingml/2006/main" w="9525">
            <a:solidFill>
              <a:srgbClr val="178A8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D0DEC1-1110-4EFA-909B-24F56CEA6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857625"/>
            <a:ext cx="7734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8A8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8A8A"/>
                </a:solidFill>
                <a:latin typeface="Arial"/>
                <a:ea typeface="Arial"/>
                <a:cs typeface="Arial"/>
              </a:rPr>
              <a:t>Web experience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6B2BB6-335C-4B79-A76B-F05F2638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4171950"/>
            <a:ext cx="77343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Relevant FAQs appear beside the conversation. The full library supports search and CSV or Markdown download for offline reference.</a:t>
            </a:r>
          </a:p>
        </p:txBody>
      </p:sp>
    </p:spTree>
    <p:extLst>
      <p:ext uri="{BB962C8B-B14F-4D97-AF65-F5344CB8AC3E}">
        <p14:creationId xmlns:p14="http://schemas.microsoft.com/office/powerpoint/2010/main" val="65500461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0C0510-F776-4442-90C4-3E5DEDDF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E6F8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6F8A"/>
                </a:solidFill>
                <a:latin typeface="Arial"/>
                <a:ea typeface="Arial"/>
                <a:cs typeface="Arial"/>
              </a:rPr>
              <a:t>MEASURE NAVIGATOR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EDBAB9-1524-4D96-AB5D-7AD73E699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3B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B5D"/>
                </a:solidFill>
                <a:latin typeface="Arial"/>
                <a:ea typeface="Arial"/>
                <a:cs typeface="Arial"/>
              </a:rPr>
              <a:t>Escalation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A62207-4333-42A1-BA2F-43FE0E4D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3347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A8A"/>
          </a:solidFill>
          <a:ln xmlns:a="http://schemas.openxmlformats.org/drawingml/2006/main" w="0">
            <a:solidFill>
              <a:srgbClr val="178A8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677DD9-287F-40BF-9661-33A77BF64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Measure Navigator | Hackathon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64FEC7-6415-4378-810D-DD77D6402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8054E9-E2DA-466C-B979-9DB1BD51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2476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4B6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D98F63-6268-48F9-924D-1A79F8E2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76200" cy="2190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4B63"/>
          </a:solidFill>
          <a:ln xmlns:a="http://schemas.openxmlformats.org/drawingml/2006/main" w="9525">
            <a:solidFill>
              <a:srgbClr val="A84B6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38252A-4693-42B2-BFB8-2EAADD79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52625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84B6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84B63"/>
                </a:solidFill>
                <a:latin typeface="Arial"/>
                <a:ea typeface="Arial"/>
                <a:cs typeface="Arial"/>
              </a:rPr>
              <a:t>Trigger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7770B9-8051-4D5D-AA86-9DF0CDD70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21145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Source conflict, unresolved condition, low-confidence intent, missing package, or repeated unsuccessful guidance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BF3744-0C8B-400E-BF93-FAEC40E6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09750"/>
            <a:ext cx="2476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742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5006E2-17F7-457F-B615-F14E9FBE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09750"/>
            <a:ext cx="76200" cy="2190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7424"/>
          </a:solidFill>
          <a:ln xmlns:a="http://schemas.openxmlformats.org/drawingml/2006/main" w="9525">
            <a:solidFill>
              <a:srgbClr val="B8742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FF5210-A93C-4009-BD86-EB1DE1BC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952625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74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7424"/>
                </a:solidFill>
                <a:latin typeface="Arial"/>
                <a:ea typeface="Arial"/>
                <a:cs typeface="Arial"/>
              </a:rPr>
              <a:t>Alert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70BC8C-0ECA-4029-9226-6FB4B057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266950"/>
            <a:ext cx="21145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Create a severity, reason, authoritative source, conflicting source, measure year, and session trace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2BB79C-555C-4FB6-A762-3EB92F30B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2476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97D8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40CDC1-07EB-4470-AA6B-B176545D4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76200" cy="2190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97D8C"/>
          </a:solidFill>
          <a:ln xmlns:a="http://schemas.openxmlformats.org/drawingml/2006/main" w="9525">
            <a:solidFill>
              <a:srgbClr val="397D8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0074DC-1EE5-4430-A732-54A7BE354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52625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97D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D8C"/>
                </a:solidFill>
                <a:latin typeface="Arial"/>
                <a:ea typeface="Arial"/>
                <a:cs typeface="Arial"/>
              </a:rPr>
              <a:t>Assignment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B621B4-3E53-4BF0-B01F-7123BBD0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66950"/>
            <a:ext cx="21145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Route to measure review, SQL engineering, content governance, or package operations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6E3D7E-9997-410B-B791-A0BC8C234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809750"/>
            <a:ext cx="2476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8A8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1F860C-3810-4F04-9A13-F285BBFE5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809750"/>
            <a:ext cx="76200" cy="2190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8A8A"/>
          </a:solidFill>
          <a:ln xmlns:a="http://schemas.openxmlformats.org/drawingml/2006/main" w="9525">
            <a:solidFill>
              <a:srgbClr val="178A8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F68F35-FB27-448A-BD0C-723ED94D2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952625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8A8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8A8A"/>
                </a:solidFill>
                <a:latin typeface="Arial"/>
                <a:ea typeface="Arial"/>
                <a:cs typeface="Arial"/>
              </a:rPr>
              <a:t>Resolution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E74BD7-1D9C-41E8-8EC4-AA71E7B9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66950"/>
            <a:ext cx="21145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Correct the derived artifact, rerun conformance tests, record approval, and close the alert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E8CE54-A188-47EF-BC01-FE6A01DB2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62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3B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3B5D"/>
                </a:solidFill>
                <a:latin typeface="Arial"/>
                <a:ea typeface="Arial"/>
                <a:cs typeface="Arial"/>
              </a:rPr>
              <a:t>The answer remains visible with its limitations while the alert follows a separate governed workflow.</a:t>
            </a:r>
          </a:p>
        </p:txBody>
      </p:sp>
    </p:spTree>
    <p:extLst>
      <p:ext uri="{BB962C8B-B14F-4D97-AF65-F5344CB8AC3E}">
        <p14:creationId xmlns:p14="http://schemas.microsoft.com/office/powerpoint/2010/main" val="171479499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3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0C91F4-1C11-45B6-94D4-F9623A72B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E6F8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6F8A"/>
                </a:solidFill>
                <a:latin typeface="Arial"/>
                <a:ea typeface="Arial"/>
                <a:cs typeface="Arial"/>
              </a:rPr>
              <a:t>MEASURE NAVIGATOR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B00511-42CC-4206-B595-FCF5B8E3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3B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B5D"/>
                </a:solidFill>
                <a:latin typeface="Arial"/>
                <a:ea typeface="Arial"/>
                <a:cs typeface="Arial"/>
              </a:rPr>
              <a:t>Technology stack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1BBEA9-8910-4BB1-872D-D5EBC648C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3347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A8A"/>
          </a:solidFill>
          <a:ln xmlns:a="http://schemas.openxmlformats.org/drawingml/2006/main" w="0">
            <a:solidFill>
              <a:srgbClr val="178A8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5EF8E4-A7BF-4657-869B-4651645A8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Measure Navigator | Hackathon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4AB1FC-710A-4D35-9C97-C364004DE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9A8063-47E6-4FDF-BFB7-13ED9C35B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24000"/>
            <a:ext cx="10763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3EEF3"/>
          </a:solidFill>
          <a:ln xmlns:a="http://schemas.openxmlformats.org/drawingml/2006/main" w="9525">
            <a:solidFill>
              <a:srgbClr val="C6D9D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DF1795-617E-4D96-88AE-C6129A99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002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23B5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23B5D"/>
                </a:solidFill>
                <a:latin typeface="Arial"/>
                <a:ea typeface="Arial"/>
                <a:cs typeface="Arial"/>
              </a:rPr>
              <a:t>Application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72347E-4938-4A95-81CA-88B26EA2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6002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97D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97D8C"/>
                </a:solidFill>
                <a:latin typeface="Arial"/>
                <a:ea typeface="Arial"/>
                <a:cs typeface="Arial"/>
              </a:rPr>
              <a:t>Python 3.12.14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408A03-8866-4DD5-83FB-B1890F75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600200"/>
            <a:ext cx="581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Portable runtime and service layer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93739B-4915-4EFD-A8AB-B05AFB03D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10763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9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64D86A-789C-4FE8-B27B-E45189A34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669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23B5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23B5D"/>
                </a:solidFill>
                <a:latin typeface="Arial"/>
                <a:ea typeface="Arial"/>
                <a:cs typeface="Arial"/>
              </a:rPr>
              <a:t>Web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832B96-23AE-4C70-A5A1-AB29A22E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669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97D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97D8C"/>
                </a:solidFill>
                <a:latin typeface="Arial"/>
                <a:ea typeface="Arial"/>
                <a:cs typeface="Arial"/>
              </a:rPr>
              <a:t>Flask 3.1.3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67C354-9AD5-4E32-AD4E-33E79FCD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266950"/>
            <a:ext cx="581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Local hackathon UI and JSON APIs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33B57A-782B-4B77-B888-4495BED68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57500"/>
            <a:ext cx="10763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3EEF3"/>
          </a:solidFill>
          <a:ln xmlns:a="http://schemas.openxmlformats.org/drawingml/2006/main" w="9525">
            <a:solidFill>
              <a:srgbClr val="C6D9D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77E3D7-65C3-4709-B586-A6518BF1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337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23B5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23B5D"/>
                </a:solidFill>
                <a:latin typeface="Arial"/>
                <a:ea typeface="Arial"/>
                <a:cs typeface="Arial"/>
              </a:rPr>
              <a:t>MCP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EC9DE1-C985-48E4-958C-2DF7C7A0F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337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97D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97D8C"/>
                </a:solidFill>
                <a:latin typeface="Arial"/>
                <a:ea typeface="Arial"/>
                <a:cs typeface="Arial"/>
              </a:rPr>
              <a:t>MCP Python SDK 1.30.0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128319-19EF-4A21-9B4B-D87ECE27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933700"/>
            <a:ext cx="581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Reusable tools for FAQ, packages, checks, and alerts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3C621-556F-4905-821C-62594C878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24250"/>
            <a:ext cx="10763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9D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71CFF6-A0CC-426F-BA9D-7B972AE65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004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23B5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23B5D"/>
                </a:solidFill>
                <a:latin typeface="Arial"/>
                <a:ea typeface="Arial"/>
                <a:cs typeface="Arial"/>
              </a:rPr>
              <a:t>Rules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93EE70-AFE1-44B7-AC7E-47EC27BBB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004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97D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97D8C"/>
                </a:solidFill>
                <a:latin typeface="Arial"/>
                <a:ea typeface="Arial"/>
                <a:cs typeface="Arial"/>
              </a:rPr>
              <a:t>PyYAML 6.0.3 and JSON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5537CA-8757-4C7D-A97E-2DE9D77F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600450"/>
            <a:ext cx="581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Human-editable decision trees with validated runtime output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C4720A-5EF5-406A-ABD3-0C2BA775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91000"/>
            <a:ext cx="10763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3EEF3"/>
          </a:solidFill>
          <a:ln xmlns:a="http://schemas.openxmlformats.org/drawingml/2006/main" w="9525">
            <a:solidFill>
              <a:srgbClr val="C6D9D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7BC76E-CD1E-4C90-A265-32A07584E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672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23B5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23B5D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52D997-5415-4EE4-9A89-48580C4F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672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97D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97D8C"/>
                </a:solidFill>
                <a:latin typeface="Arial"/>
                <a:ea typeface="Arial"/>
                <a:cs typeface="Arial"/>
              </a:rPr>
              <a:t>SQLite and Snowflake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D71DF1-92BF-4CA6-B2B3-7532E5A2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267200"/>
            <a:ext cx="581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Local FAQ and trace store plus production deterministic execution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6B37F5-A81C-4DED-8044-2BED306A8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57750"/>
            <a:ext cx="10763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9DC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17A130-2C5E-4318-9A68-F0EAD8F72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339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23B5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23B5D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F94DF3-EF59-4E60-A688-316432EE6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339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97D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97D8C"/>
                </a:solidFill>
                <a:latin typeface="Arial"/>
                <a:ea typeface="Arial"/>
                <a:cs typeface="Arial"/>
              </a:rPr>
              <a:t>OpenAI Python SDK 2.54.0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C6307C-2DF8-4B2C-8FAA-4D7A94E70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933950"/>
            <a:ext cx="581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Optional explanation after deterministic evaluation</a:t>
            </a:r>
          </a:p>
        </p:txBody>
      </p:sp>
    </p:spTree>
    <p:extLst>
      <p:ext uri="{BB962C8B-B14F-4D97-AF65-F5344CB8AC3E}">
        <p14:creationId xmlns:p14="http://schemas.microsoft.com/office/powerpoint/2010/main" val="33762551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3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84ED59-8702-4E7C-8152-5D064D316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E6F8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6F8A"/>
                </a:solidFill>
                <a:latin typeface="Arial"/>
                <a:ea typeface="Arial"/>
                <a:cs typeface="Arial"/>
              </a:rPr>
              <a:t>MEASURE NAVIGATOR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99BBC5-B968-47EC-A951-3B8866A54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3B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B5D"/>
                </a:solidFill>
                <a:latin typeface="Arial"/>
                <a:ea typeface="Arial"/>
                <a:cs typeface="Arial"/>
              </a:rPr>
              <a:t>Office-laptop integration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8E4BB6-8173-40DA-8882-BA1A4F9DB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3347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A8A"/>
          </a:solidFill>
          <a:ln xmlns:a="http://schemas.openxmlformats.org/drawingml/2006/main" w="0">
            <a:solidFill>
              <a:srgbClr val="178A8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1D1237-F23A-49EA-8FE6-8CBAA0A5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Measure Navigator | Hackathon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EEFCBD-90EF-4534-ACD0-809DD0EBD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56EB85-763D-4464-A5EE-FE688C38F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E6F8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0E1172-C88B-4C08-A570-F1B099C4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76200" cy="171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6F8A"/>
          </a:solidFill>
          <a:ln xmlns:a="http://schemas.openxmlformats.org/drawingml/2006/main" w="9525">
            <a:solidFill>
              <a:srgbClr val="2E6F8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59EB0F-1CEA-4E57-A8D3-9204616A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6F8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E6F8A"/>
                </a:solidFill>
                <a:latin typeface="Arial"/>
                <a:ea typeface="Arial"/>
                <a:cs typeface="Arial"/>
              </a:rPr>
              <a:t>1. Copy the project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00298D-C4ED-4F2A-BED1-D83C0E284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971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Transfer the complete folder, including the website, MCP server, package manager, tests, deck, and package contract.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EA0AB5-734C-4C52-8B33-4A37C74B4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19250"/>
            <a:ext cx="3333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8A8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E1569C-451D-4A94-ABE0-5D224D7E6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19250"/>
            <a:ext cx="76200" cy="171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8A8A"/>
          </a:solidFill>
          <a:ln xmlns:a="http://schemas.openxmlformats.org/drawingml/2006/main" w="9525">
            <a:solidFill>
              <a:srgbClr val="178A8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342DBD-B17C-4368-BF81-2550D50E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762125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8A8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8A8A"/>
                </a:solidFill>
                <a:latin typeface="Arial"/>
                <a:ea typeface="Arial"/>
                <a:cs typeface="Arial"/>
              </a:rPr>
              <a:t>2. Add governed artifacts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015881-DF40-4864-B9B4-E047A1FE2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076450"/>
            <a:ext cx="2971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Place each specification, MLD, VSD, decision tree, check catalog, and stored procedure under the correct measure-year folder.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143347-BD75-4A71-B43B-A9DED7C17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19250"/>
            <a:ext cx="3333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97D8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A5E884-7587-4033-A998-A876AC77E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19250"/>
            <a:ext cx="76200" cy="171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97D8C"/>
          </a:solidFill>
          <a:ln xmlns:a="http://schemas.openxmlformats.org/drawingml/2006/main" w="9525">
            <a:solidFill>
              <a:srgbClr val="397D8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BF3E07-DF7D-4DF7-A100-58FBA57F7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762125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97D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7D8C"/>
                </a:solidFill>
                <a:latin typeface="Arial"/>
                <a:ea typeface="Arial"/>
                <a:cs typeface="Arial"/>
              </a:rPr>
              <a:t>3. Validate and 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7D0793-DEDA-43B4-A0C8-9E85401BD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76450"/>
            <a:ext cx="2971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177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786"/>
                </a:solidFill>
                <a:latin typeface="Arial"/>
                <a:ea typeface="Arial"/>
                <a:cs typeface="Arial"/>
              </a:rPr>
              <a:t>Update the manifest, compile YAML, run package validation, execute Python and Snowflake conformance scenarios, then test the UI.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95A3C9-3E0B-449B-B612-CB223DE78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05250"/>
            <a:ext cx="8953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3EEF3"/>
          </a:solidFill>
          <a:ln xmlns:a="http://schemas.openxmlformats.org/drawingml/2006/main" w="9525">
            <a:solidFill>
              <a:srgbClr val="2E6F8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840D5D-B057-429F-A6D0-D9850535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0481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6F8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E6F8A"/>
                </a:solidFill>
                <a:latin typeface="Arial"/>
                <a:ea typeface="Arial"/>
                <a:cs typeface="Arial"/>
              </a:rPr>
              <a:t>Hackathon demo scope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5F1ED4-6A8C-40EC-B2D6-0C707FCF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381500"/>
            <a:ext cx="8239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3B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3B5D"/>
                </a:solidFill>
                <a:latin typeface="Arial"/>
                <a:ea typeface="Arial"/>
                <a:cs typeface="Arial"/>
              </a:rPr>
              <a:t>Multiple measure packages can appear in the selector. Only complete and validated packages can run deterministic evaluation.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C1F555-6783-4B65-A820-98CBC5834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61975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A84B6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84B63"/>
                </a:solidFill>
                <a:latin typeface="Arial"/>
                <a:ea typeface="Arial"/>
                <a:cs typeface="Arial"/>
              </a:rPr>
              <a:t>Use licensed NCQA content only within the authorized office environment.</a:t>
            </a:r>
          </a:p>
        </p:txBody>
      </p:sp>
    </p:spTree>
    <p:extLst>
      <p:ext uri="{BB962C8B-B14F-4D97-AF65-F5344CB8AC3E}">
        <p14:creationId xmlns:p14="http://schemas.microsoft.com/office/powerpoint/2010/main" val="13453786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2026-09-12T18:42:34.4090000Z</dcterms:created>
  <dcterms:modified xsi:type="dcterms:W3CDTF">2026-09-12T18:42:34.4100000Z</dcterms:modified>
</coreProperties>
</file>